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  <p:sldId id="260" r:id="rId3"/>
    <p:sldId id="261" r:id="rId4"/>
    <p:sldId id="264" r:id="rId5"/>
    <p:sldId id="265" r:id="rId6"/>
    <p:sldId id="270" r:id="rId7"/>
    <p:sldId id="273" r:id="rId8"/>
    <p:sldId id="272" r:id="rId9"/>
    <p:sldId id="274" r:id="rId10"/>
    <p:sldId id="277" r:id="rId11"/>
    <p:sldId id="27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A62F0B34-4E8B-4188-911A-D68F97057989}">
          <p14:sldIdLst>
            <p14:sldId id="256"/>
            <p14:sldId id="260"/>
            <p14:sldId id="261"/>
            <p14:sldId id="264"/>
            <p14:sldId id="265"/>
            <p14:sldId id="270"/>
            <p14:sldId id="273"/>
            <p14:sldId id="272"/>
            <p14:sldId id="274"/>
            <p14:sldId id="277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C81C26-9B69-4C03-8396-4963313B1355}" v="842" dt="2026-05-16T10:49:58.937"/>
    <p1510:client id="{E8DBCF19-2824-4C02-9A28-AF0CD8CEAC25}" v="7" dt="2026-05-16T11:01:08.0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5/17/26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4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1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8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7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3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97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7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3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6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7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30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5/17/26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  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0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82" r:id="rId8"/>
    <p:sldLayoutId id="2147483783" r:id="rId9"/>
    <p:sldLayoutId id="2147483784" r:id="rId10"/>
    <p:sldLayoutId id="21474837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8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7" name="Rectangle 40">
            <a:extLst>
              <a:ext uri="{FF2B5EF4-FFF2-40B4-BE49-F238E27FC236}">
                <a16:creationId xmlns:a16="http://schemas.microsoft.com/office/drawing/2014/main" id="{7DA29CF3-8B8B-4DDF-A19B-72E0059D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744909"/>
            <a:ext cx="5562600" cy="2607891"/>
          </a:xfrm>
        </p:spPr>
        <p:txBody>
          <a:bodyPr anchor="b">
            <a:normAutofit/>
          </a:bodyPr>
          <a:lstStyle/>
          <a:p>
            <a:pPr algn="l"/>
            <a:r>
              <a:rPr lang="pt-PT" sz="4800" dirty="0">
                <a:ea typeface="ADLaM Display" panose="02010000000000000000" pitchFamily="2" charset="0"/>
                <a:cs typeface="ADLaM Display" panose="02010000000000000000" pitchFamily="2" charset="0"/>
              </a:rPr>
              <a:t>Jogo </a:t>
            </a:r>
            <a:r>
              <a:rPr lang="pt-PT" sz="4800" dirty="0" err="1">
                <a:ea typeface="ADLaM Display" panose="02010000000000000000" pitchFamily="2" charset="0"/>
                <a:cs typeface="ADLaM Display" panose="02010000000000000000" pitchFamily="2" charset="0"/>
              </a:rPr>
              <a:t>PopOut</a:t>
            </a:r>
            <a:r>
              <a:rPr lang="pt-PT" sz="4800" dirty="0"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38200" y="3505201"/>
            <a:ext cx="5562599" cy="26701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spcBef>
                <a:spcPct val="0"/>
              </a:spcBef>
            </a:pPr>
            <a:r>
              <a:rPr lang="pt-PT" sz="1600" dirty="0">
                <a:latin typeface="+mj-lt"/>
              </a:rPr>
              <a:t>MCTS vs. Árvores de Decisão ID3</a:t>
            </a:r>
          </a:p>
          <a:p>
            <a:pPr algn="l"/>
            <a:endParaRPr lang="pt-PT" sz="2200" dirty="0"/>
          </a:p>
        </p:txBody>
      </p:sp>
      <p:grpSp>
        <p:nvGrpSpPr>
          <p:cNvPr id="48" name="Group 42">
            <a:extLst>
              <a:ext uri="{FF2B5EF4-FFF2-40B4-BE49-F238E27FC236}">
                <a16:creationId xmlns:a16="http://schemas.microsoft.com/office/drawing/2014/main" id="{2C96D671-CB09-4A40-87DE-E5042068B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67025" y="76200"/>
            <a:ext cx="3997615" cy="6816079"/>
            <a:chOff x="8059620" y="41922"/>
            <a:chExt cx="3997615" cy="6816077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1A0628A-CD3B-450E-BF5A-04678A41E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E96386AA-8B39-4EAE-8E84-F62C12CCE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pic>
        <p:nvPicPr>
          <p:cNvPr id="4" name="Imagem 3" descr="Uma imagem com Saturação de cores, padrão, círculo, captura de ecrã  Os conteúdos gerados por IA poderão estar incorretos.">
            <a:extLst>
              <a:ext uri="{FF2B5EF4-FFF2-40B4-BE49-F238E27FC236}">
                <a16:creationId xmlns:a16="http://schemas.microsoft.com/office/drawing/2014/main" id="{28314EE2-08A0-AFDC-E1EB-D8882E9F44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9439" r="17060" b="-1"/>
          <a:stretch>
            <a:fillRect/>
          </a:stretch>
        </p:blipFill>
        <p:spPr>
          <a:xfrm>
            <a:off x="7676195" y="1458525"/>
            <a:ext cx="3940950" cy="3940950"/>
          </a:xfrm>
          <a:custGeom>
            <a:avLst/>
            <a:gdLst/>
            <a:ahLst/>
            <a:cxnLst/>
            <a:rect l="l" t="t" r="r" b="b"/>
            <a:pathLst>
              <a:path w="4800600" h="4800600">
                <a:moveTo>
                  <a:pt x="2400300" y="0"/>
                </a:moveTo>
                <a:cubicBezTo>
                  <a:pt x="3725949" y="0"/>
                  <a:pt x="4800600" y="1074651"/>
                  <a:pt x="4800600" y="2400300"/>
                </a:cubicBezTo>
                <a:cubicBezTo>
                  <a:pt x="4800600" y="3725949"/>
                  <a:pt x="3725949" y="4800600"/>
                  <a:pt x="2400300" y="4800600"/>
                </a:cubicBezTo>
                <a:cubicBezTo>
                  <a:pt x="1074651" y="4800600"/>
                  <a:pt x="0" y="3725949"/>
                  <a:pt x="0" y="2400300"/>
                </a:cubicBezTo>
                <a:cubicBezTo>
                  <a:pt x="0" y="1074651"/>
                  <a:pt x="1074651" y="0"/>
                  <a:pt x="2400300" y="0"/>
                </a:cubicBezTo>
                <a:close/>
              </a:path>
            </a:pathLst>
          </a:custGeom>
        </p:spPr>
      </p:pic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D43DEDE6-F342-213C-F492-A06CADDA138B}"/>
              </a:ext>
            </a:extLst>
          </p:cNvPr>
          <p:cNvCxnSpPr>
            <a:cxnSpLocks/>
          </p:cNvCxnSpPr>
          <p:nvPr/>
        </p:nvCxnSpPr>
        <p:spPr>
          <a:xfrm>
            <a:off x="880840" y="3911675"/>
            <a:ext cx="55625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3A880E0-D34E-7237-61F4-927A78702F3D}"/>
              </a:ext>
            </a:extLst>
          </p:cNvPr>
          <p:cNvSpPr txBox="1"/>
          <p:nvPr/>
        </p:nvSpPr>
        <p:spPr>
          <a:xfrm>
            <a:off x="471207" y="6211031"/>
            <a:ext cx="11246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dirty="0"/>
              <a:t>Unidade Curricular – Inteligência Artificial (CC2006)</a:t>
            </a:r>
          </a:p>
          <a:p>
            <a:pPr algn="ctr"/>
            <a:r>
              <a:rPr lang="pt-PT" sz="1400" b="1" dirty="0"/>
              <a:t>Grupo 7 - PL6:</a:t>
            </a:r>
            <a:r>
              <a:rPr lang="pt-PT" sz="1400" dirty="0"/>
              <a:t> Gonçalo Sousa (202403669) / Guilherme Granjo (202404328) / Matilde Alves (202403407)</a:t>
            </a:r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D65D0-F1EC-88B9-5B26-D99D4202E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/>
              </a:rPr>
              <a:t>7 M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B308828-4749-4D6D-9CEA-433D2BD2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FA43358F-8AF6-45AF-B1D4-3EA84DDE7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33B887FE-73E4-4849-9FF5-BEBA04068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0DADC141-2CF4-4D22-BFEF-05FB358E4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7D4158-D23F-54A0-9153-DDDC9DD8C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17" y="455259"/>
            <a:ext cx="5410200" cy="1997075"/>
          </a:xfrm>
        </p:spPr>
        <p:txBody>
          <a:bodyPr>
            <a:normAutofit/>
          </a:bodyPr>
          <a:lstStyle/>
          <a:p>
            <a:r>
              <a:rPr lang="pt-PT" sz="3600" dirty="0">
                <a:ea typeface="+mj-lt"/>
                <a:cs typeface="+mj-lt"/>
              </a:rPr>
              <a:t>O Jogo </a:t>
            </a:r>
            <a:r>
              <a:rPr lang="pt-PT" sz="3600" dirty="0" err="1">
                <a:ea typeface="+mj-lt"/>
                <a:cs typeface="+mj-lt"/>
              </a:rPr>
              <a:t>PopOut</a:t>
            </a:r>
            <a:endParaRPr lang="pt-PT" sz="3600" dirty="0">
              <a:ea typeface="+mj-lt"/>
              <a:cs typeface="+mj-lt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9644E8F-6B18-786F-D0D3-8F302345C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824" y="2516487"/>
            <a:ext cx="9171972" cy="2509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PT" sz="1500" dirty="0">
                <a:ea typeface="+mn-lt"/>
                <a:cs typeface="+mn-lt"/>
              </a:rPr>
              <a:t>Mesmas regras do Connect-4 num tabuleiro 6×7 (42 células)</a:t>
            </a:r>
            <a:endParaRPr lang="pt-PT" sz="1500" dirty="0"/>
          </a:p>
          <a:p>
            <a:r>
              <a:rPr lang="pt-PT" sz="1500" dirty="0">
                <a:ea typeface="+mn-lt"/>
                <a:cs typeface="+mn-lt"/>
              </a:rPr>
              <a:t>   Cada célula: 0 = vazia, 1 = Jogador 1, 2 = Jogador 2.</a:t>
            </a:r>
            <a:endParaRPr lang="pt-PT" sz="1500" dirty="0"/>
          </a:p>
          <a:p>
            <a:r>
              <a:rPr lang="pt-PT" sz="1500" dirty="0">
                <a:ea typeface="+mn-lt"/>
                <a:cs typeface="+mn-lt"/>
              </a:rPr>
              <a:t>   Atributos para o ID3: s0 … s41 + </a:t>
            </a:r>
            <a:r>
              <a:rPr lang="pt-PT" sz="1500" dirty="0" err="1">
                <a:ea typeface="+mn-lt"/>
                <a:cs typeface="+mn-lt"/>
              </a:rPr>
              <a:t>to_play</a:t>
            </a:r>
            <a:r>
              <a:rPr lang="pt-PT" sz="1500" dirty="0">
                <a:ea typeface="+mn-lt"/>
                <a:cs typeface="+mn-lt"/>
              </a:rPr>
              <a:t>.</a:t>
            </a:r>
            <a:endParaRPr lang="pt-PT" sz="1500" dirty="0"/>
          </a:p>
          <a:p>
            <a:pPr>
              <a:buNone/>
            </a:pPr>
            <a:r>
              <a:rPr lang="pt-PT" sz="1500" dirty="0">
                <a:ea typeface="+mn-lt"/>
                <a:cs typeface="+mn-lt"/>
              </a:rPr>
              <a:t>Mas agora com 2 ações possíveis:</a:t>
            </a:r>
            <a:endParaRPr lang="pt-PT" sz="1500" dirty="0"/>
          </a:p>
          <a:p>
            <a:r>
              <a:rPr lang="pt-PT" sz="1500" dirty="0">
                <a:ea typeface="+mn-lt"/>
                <a:cs typeface="+mn-lt"/>
              </a:rPr>
              <a:t>   Largar peça (</a:t>
            </a:r>
            <a:r>
              <a:rPr lang="pt-PT" sz="1500" dirty="0" err="1">
                <a:ea typeface="+mn-lt"/>
                <a:cs typeface="+mn-lt"/>
              </a:rPr>
              <a:t>drop</a:t>
            </a:r>
            <a:r>
              <a:rPr lang="pt-PT" sz="1500" dirty="0">
                <a:ea typeface="+mn-lt"/>
                <a:cs typeface="+mn-lt"/>
              </a:rPr>
              <a:t>)</a:t>
            </a:r>
            <a:endParaRPr lang="pt-PT" sz="1500" dirty="0"/>
          </a:p>
          <a:p>
            <a:r>
              <a:rPr lang="pt-PT" sz="1500" dirty="0">
                <a:ea typeface="+mn-lt"/>
                <a:cs typeface="+mn-lt"/>
              </a:rPr>
              <a:t>   Retirar peça da base (pop)</a:t>
            </a:r>
            <a:endParaRPr lang="pt-PT" sz="1500" dirty="0"/>
          </a:p>
          <a:p>
            <a:pPr marL="0" indent="0">
              <a:buNone/>
            </a:pPr>
            <a:endParaRPr lang="pt-PT" sz="1800" dirty="0"/>
          </a:p>
          <a:p>
            <a:pPr lvl="1"/>
            <a:endParaRPr lang="pt-PT" sz="1400" dirty="0"/>
          </a:p>
        </p:txBody>
      </p:sp>
      <p:pic>
        <p:nvPicPr>
          <p:cNvPr id="4" name="Imagem 3" descr="Uma imagem com captura de ecrã, texto, Saturação de cores  Os conteúdos gerados por IA poderão estar incorretos.">
            <a:extLst>
              <a:ext uri="{FF2B5EF4-FFF2-40B4-BE49-F238E27FC236}">
                <a16:creationId xmlns:a16="http://schemas.microsoft.com/office/drawing/2014/main" id="{481B0FE6-DAC5-CB18-5FA7-3142EC08D7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36"/>
          <a:stretch>
            <a:fillRect/>
          </a:stretch>
        </p:blipFill>
        <p:spPr>
          <a:xfrm>
            <a:off x="6947032" y="990600"/>
            <a:ext cx="4184934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9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8EBB4-B520-DC68-D91E-837FFEB0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B308828-4749-4D6D-9CEA-433D2BD2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FA43358F-8AF6-45AF-B1D4-3EA84DDE7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33B887FE-73E4-4849-9FF5-BEBA04068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0DADC141-2CF4-4D22-BFEF-05FB358E4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C40521-1DD0-E430-BD2D-51FC49A1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17525"/>
            <a:ext cx="5410200" cy="1997075"/>
          </a:xfrm>
        </p:spPr>
        <p:txBody>
          <a:bodyPr>
            <a:normAutofit/>
          </a:bodyPr>
          <a:lstStyle/>
          <a:p>
            <a:r>
              <a:rPr lang="pt-PT" sz="3600" dirty="0">
                <a:ea typeface="+mj-lt"/>
                <a:cs typeface="+mj-lt"/>
              </a:rPr>
              <a:t>Monte Carlo </a:t>
            </a:r>
            <a:r>
              <a:rPr lang="pt-PT" sz="3600" dirty="0" err="1">
                <a:ea typeface="+mj-lt"/>
                <a:cs typeface="+mj-lt"/>
              </a:rPr>
              <a:t>Tree</a:t>
            </a:r>
            <a:r>
              <a:rPr lang="pt-PT" sz="3600" dirty="0">
                <a:ea typeface="+mj-lt"/>
                <a:cs typeface="+mj-lt"/>
              </a:rPr>
              <a:t> </a:t>
            </a:r>
            <a:r>
              <a:rPr lang="pt-PT" sz="3600" dirty="0" err="1">
                <a:ea typeface="+mj-lt"/>
                <a:cs typeface="+mj-lt"/>
              </a:rPr>
              <a:t>Search</a:t>
            </a:r>
            <a:endParaRPr lang="pt-PT" sz="360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9A40E09-6190-DB71-52D2-8AA0FF1E4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590801"/>
            <a:ext cx="4442411" cy="2590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PT" sz="1800" dirty="0">
                <a:ea typeface="+mn-lt"/>
                <a:cs typeface="+mn-lt"/>
              </a:rPr>
              <a:t>O Monte Carlo Tree Search (MCTS) é um algoritmo de pesquisa que constrói uma árvore de jogo de forma incremental, executando simulações (aleatórias ou heurísticas) e utiliza os resultados para decidir a melhor jogada.</a:t>
            </a:r>
          </a:p>
          <a:p>
            <a:pPr marL="457200" indent="-457200"/>
            <a:endParaRPr lang="pt-PT" sz="1800" dirty="0"/>
          </a:p>
          <a:p>
            <a:endParaRPr lang="pt-PT" sz="1800" dirty="0"/>
          </a:p>
        </p:txBody>
      </p:sp>
      <p:pic>
        <p:nvPicPr>
          <p:cNvPr id="6" name="Imagem 5" descr="Monte Carlo Tree Search Explained &amp; How To Implement">
            <a:extLst>
              <a:ext uri="{FF2B5EF4-FFF2-40B4-BE49-F238E27FC236}">
                <a16:creationId xmlns:a16="http://schemas.microsoft.com/office/drawing/2014/main" id="{B4D90C78-65F9-1194-7515-15FE508A1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137" y="2590801"/>
            <a:ext cx="4741335" cy="26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EF9E2-AEBC-C07B-B7E7-E4D402B83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280A192-8068-A85B-6192-3775E804B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0368A6B-4C22-CBE2-3508-0A8E37EC8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8A29C5C-B3A3-1C19-2AEE-88932C6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DCC2EC02-9F9F-EC6C-C163-B3622C80B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8148AA6A-84AE-E6D3-0B40-E285B7BE5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200A73DA-C381-1867-50E2-538A90B1E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8346B8-87B3-D9B0-7749-2905D349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315" y="302785"/>
            <a:ext cx="8581767" cy="1997075"/>
          </a:xfrm>
        </p:spPr>
        <p:txBody>
          <a:bodyPr>
            <a:normAutofit/>
          </a:bodyPr>
          <a:lstStyle/>
          <a:p>
            <a:r>
              <a:rPr lang="pt-PT" sz="3600" dirty="0">
                <a:ea typeface="+mj-lt"/>
                <a:cs typeface="+mj-lt"/>
              </a:rPr>
              <a:t>UCB1</a:t>
            </a:r>
            <a:endParaRPr lang="pt-PT" sz="3600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4ADDD7D-EE7A-0908-C1C7-08F20226F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53" y="2915383"/>
            <a:ext cx="10260226" cy="29500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pt-PT" sz="1800" b="1" dirty="0">
                <a:latin typeface="+mn-lt"/>
                <a:ea typeface="+mn-lt"/>
                <a:cs typeface="+mn-lt"/>
              </a:rPr>
              <a:t>Exploitation</a:t>
            </a:r>
            <a:r>
              <a:rPr lang="pt-PT" sz="1800" dirty="0">
                <a:latin typeface="+mn-lt"/>
                <a:ea typeface="+mn-lt"/>
                <a:cs typeface="+mn-lt"/>
              </a:rPr>
              <a:t>  —  preferir jogadas que ganharam muito em simulações anteriores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pt-PT" sz="1800" b="1" dirty="0">
                <a:latin typeface="+mn-lt"/>
                <a:ea typeface="+mn-lt"/>
                <a:cs typeface="+mn-lt"/>
              </a:rPr>
              <a:t>Exploration</a:t>
            </a:r>
            <a:r>
              <a:rPr lang="pt-PT" sz="1800" dirty="0">
                <a:latin typeface="+mn-lt"/>
                <a:ea typeface="+mn-lt"/>
                <a:cs typeface="+mn-lt"/>
              </a:rPr>
              <a:t>  —  preferir jogadas pouco tentadas</a:t>
            </a:r>
          </a:p>
          <a:p>
            <a:pPr marL="0" indent="0" algn="l">
              <a:lnSpc>
                <a:spcPct val="115000"/>
              </a:lnSpc>
              <a:spcBef>
                <a:spcPts val="600"/>
              </a:spcBef>
              <a:buNone/>
            </a:pPr>
            <a:r>
              <a:rPr lang="pt-PT" sz="1800" b="1" dirty="0">
                <a:latin typeface="+mn-lt"/>
                <a:ea typeface="+mn-lt"/>
                <a:cs typeface="+mn-lt"/>
              </a:rPr>
              <a:t>n</a:t>
            </a:r>
            <a:r>
              <a:rPr lang="pt-PT" sz="1800" dirty="0">
                <a:latin typeface="+mn-lt"/>
                <a:ea typeface="+mn-lt"/>
                <a:cs typeface="+mn-lt"/>
              </a:rPr>
              <a:t>   —  representa o nó a avaliar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pt-PT" sz="1800" b="1" dirty="0">
                <a:latin typeface="+mn-lt"/>
                <a:ea typeface="+mn-lt"/>
                <a:cs typeface="+mn-lt"/>
              </a:rPr>
              <a:t>U(n)</a:t>
            </a:r>
            <a:r>
              <a:rPr lang="pt-PT" sz="1800" dirty="0">
                <a:latin typeface="+mn-lt"/>
                <a:ea typeface="+mn-lt"/>
                <a:cs typeface="+mn-lt"/>
              </a:rPr>
              <a:t>   —  a utilidade acumulada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pt-PT" sz="1800" b="1" dirty="0">
                <a:latin typeface="+mn-lt"/>
                <a:ea typeface="+mn-lt"/>
                <a:cs typeface="+mn-lt"/>
              </a:rPr>
              <a:t>N(n)</a:t>
            </a:r>
            <a:r>
              <a:rPr lang="pt-PT" sz="1800" dirty="0">
                <a:latin typeface="+mn-lt"/>
                <a:ea typeface="+mn-lt"/>
                <a:cs typeface="+mn-lt"/>
              </a:rPr>
              <a:t>   —  o número de visitas ao nó n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pt-PT" sz="1800" b="1" dirty="0">
                <a:latin typeface="+mn-lt"/>
                <a:ea typeface="+mn-lt"/>
                <a:cs typeface="+mn-lt"/>
              </a:rPr>
              <a:t>Nparent(n)</a:t>
            </a:r>
            <a:r>
              <a:rPr lang="pt-PT" sz="1800" dirty="0">
                <a:latin typeface="+mn-lt"/>
                <a:ea typeface="+mn-lt"/>
                <a:cs typeface="+mn-lt"/>
              </a:rPr>
              <a:t>   —  o número de visitas ao nó pai de n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pt-PT" sz="1800" b="1" dirty="0">
                <a:latin typeface="+mn-lt"/>
                <a:ea typeface="+mn-lt"/>
                <a:cs typeface="+mn-lt"/>
              </a:rPr>
              <a:t>C</a:t>
            </a:r>
            <a:r>
              <a:rPr lang="pt-PT" sz="1800" dirty="0">
                <a:latin typeface="+mn-lt"/>
                <a:ea typeface="+mn-lt"/>
                <a:cs typeface="+mn-lt"/>
              </a:rPr>
              <a:t>   —  a constante de exploração</a:t>
            </a:r>
          </a:p>
        </p:txBody>
      </p:sp>
      <p:pic>
        <p:nvPicPr>
          <p:cNvPr id="100" name="UCB1 Formul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290" y="1427412"/>
            <a:ext cx="5800000" cy="155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5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F82D1-5A24-9FE7-8B6A-960C0AB76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7051A73D-8636-E693-9B66-5C199B16F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8B2653F-4813-B2D1-7629-0F45013ED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7AD173C-8DC6-3055-DA40-C5F719F69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C187634E-EA13-EA46-3156-50833EC18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C8D2D9A6-7520-143B-74BC-13A2054A7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03A1AB8E-3877-C95C-2CB5-F5382481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9E5CA0-0B8D-99B2-CF46-6E3E7D68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76" y="561804"/>
            <a:ext cx="8581767" cy="1997075"/>
          </a:xfrm>
        </p:spPr>
        <p:txBody>
          <a:bodyPr>
            <a:normAutofit/>
          </a:bodyPr>
          <a:lstStyle/>
          <a:p>
            <a:r>
              <a:rPr lang="pt-PT" dirty="0" err="1">
                <a:ea typeface="+mj-lt"/>
                <a:cs typeface="+mj-lt"/>
              </a:rPr>
              <a:t>Rollouts</a:t>
            </a:r>
            <a:endParaRPr lang="pt-PT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BBC4E76-A962-4F00-0560-0278F6E26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664505"/>
              </p:ext>
            </p:extLst>
          </p:nvPr>
        </p:nvGraphicFramePr>
        <p:xfrm>
          <a:off x="2027428" y="2644158"/>
          <a:ext cx="8127999" cy="2737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228">
                  <a:extLst>
                    <a:ext uri="{9D8B030D-6E8A-4147-A177-3AD203B41FA5}">
                      <a16:colId xmlns:a16="http://schemas.microsoft.com/office/drawing/2014/main" val="2104037485"/>
                    </a:ext>
                  </a:extLst>
                </a:gridCol>
                <a:gridCol w="4612770">
                  <a:extLst>
                    <a:ext uri="{9D8B030D-6E8A-4147-A177-3AD203B41FA5}">
                      <a16:colId xmlns:a16="http://schemas.microsoft.com/office/drawing/2014/main" val="1981595017"/>
                    </a:ext>
                  </a:extLst>
                </a:gridCol>
                <a:gridCol w="1546001">
                  <a:extLst>
                    <a:ext uri="{9D8B030D-6E8A-4147-A177-3AD203B41FA5}">
                      <a16:colId xmlns:a16="http://schemas.microsoft.com/office/drawing/2014/main" val="4209486226"/>
                    </a:ext>
                  </a:extLst>
                </a:gridCol>
              </a:tblGrid>
              <a:tr h="502087"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Rollout</a:t>
                      </a:r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Descrição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Custo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522233"/>
                  </a:ext>
                </a:extLst>
              </a:tr>
              <a:tr h="502087">
                <a:tc>
                  <a:txBody>
                    <a:bodyPr/>
                    <a:lstStyle/>
                    <a:p>
                      <a:pPr algn="ctr"/>
                      <a:r>
                        <a:rPr lang="pt-PT" i="1" dirty="0" err="1"/>
                        <a:t>random</a:t>
                      </a:r>
                      <a:endParaRPr lang="pt-PT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Joga aleatoriamente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Baixo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691561"/>
                  </a:ext>
                </a:extLst>
              </a:tr>
              <a:tr h="866616">
                <a:tc>
                  <a:txBody>
                    <a:bodyPr/>
                    <a:lstStyle/>
                    <a:p>
                      <a:pPr algn="ctr"/>
                      <a:r>
                        <a:rPr lang="pt-PT" i="1" dirty="0" err="1"/>
                        <a:t>heuristic_win</a:t>
                      </a:r>
                      <a:endParaRPr lang="pt-PT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Joga as vitórias imediatas e o restante aleatório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Médio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526511"/>
                  </a:ext>
                </a:extLst>
              </a:tr>
              <a:tr h="866616">
                <a:tc>
                  <a:txBody>
                    <a:bodyPr/>
                    <a:lstStyle/>
                    <a:p>
                      <a:pPr algn="ctr"/>
                      <a:r>
                        <a:rPr lang="pt-PT" i="1" dirty="0" err="1"/>
                        <a:t>heuristic_block</a:t>
                      </a:r>
                      <a:endParaRPr lang="pt-PT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Joga vitórias imediatas e bloqueia ameaças do adversário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Elevado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125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796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9ED6E-BA08-8C2B-A580-97DA291C9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1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5" name="Rectangle 116">
            <a:extLst>
              <a:ext uri="{FF2B5EF4-FFF2-40B4-BE49-F238E27FC236}">
                <a16:creationId xmlns:a16="http://schemas.microsoft.com/office/drawing/2014/main" id="{1B6E9D4E-1863-458E-8166-A6E64C865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26" name="Group 118">
            <a:extLst>
              <a:ext uri="{FF2B5EF4-FFF2-40B4-BE49-F238E27FC236}">
                <a16:creationId xmlns:a16="http://schemas.microsoft.com/office/drawing/2014/main" id="{DDC08824-D5AF-47B4-A084-327F6A050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14600C65-6FB1-488E-9C66-1F25CC6D3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0BDFEE4C-E27A-4656-AA45-10C056346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6B9E73A-7DA5-4C84-B395-757FF1941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76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8284F4-1257-1E63-C024-FC0C100F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76" y="725485"/>
            <a:ext cx="4953000" cy="2209801"/>
          </a:xfrm>
        </p:spPr>
        <p:txBody>
          <a:bodyPr>
            <a:normAutofit/>
          </a:bodyPr>
          <a:lstStyle/>
          <a:p>
            <a:r>
              <a:rPr lang="pt-PT" dirty="0">
                <a:latin typeface="Sabon Next LT"/>
                <a:ea typeface="Calibri"/>
                <a:cs typeface="Sabon Next LT"/>
              </a:rPr>
              <a:t>Árvore de Decisão ID3</a:t>
            </a:r>
            <a:endParaRPr lang="pt-PT" dirty="0"/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8E824093-DD4A-19A6-8AB8-BC6ADA635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76" y="3158658"/>
            <a:ext cx="4953000" cy="16288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PT" sz="1300" b="1" dirty="0"/>
              <a:t>ID3 </a:t>
            </a:r>
            <a:r>
              <a:rPr lang="pt-PT" sz="1300" dirty="0"/>
              <a:t>é um algoritmo que constrói uma árvore de decisão a partir de </a:t>
            </a:r>
            <a:r>
              <a:rPr lang="pt-PT" sz="1300" b="1" dirty="0"/>
              <a:t>dados de </a:t>
            </a:r>
            <a:r>
              <a:rPr lang="pt-PT" sz="1300" dirty="0"/>
              <a:t>treino:</a:t>
            </a:r>
            <a:endParaRPr lang="en-US" sz="1300" dirty="0"/>
          </a:p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lang="pt-PT" sz="1300" dirty="0"/>
              <a:t>É recursivo.</a:t>
            </a:r>
          </a:p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lang="pt-PT" sz="1300" dirty="0"/>
              <a:t>Nunca retrocede nem reconsidera escolhas anteriores.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300" dirty="0"/>
              <a:t>Usámos os dados do Iris para testar o ID3 completo.</a:t>
            </a:r>
          </a:p>
        </p:txBody>
      </p:sp>
      <p:pic>
        <p:nvPicPr>
          <p:cNvPr id="3" name="Imagem 2" descr="Uma imagem com diagrama, file  Os conteúdos gerados por IA poderão estar incorretos.">
            <a:extLst>
              <a:ext uri="{FF2B5EF4-FFF2-40B4-BE49-F238E27FC236}">
                <a16:creationId xmlns:a16="http://schemas.microsoft.com/office/drawing/2014/main" id="{1F37BD29-49D3-54C1-6B8E-91DC33898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832" y="1017345"/>
            <a:ext cx="4614984" cy="2295954"/>
          </a:xfrm>
          <a:prstGeom prst="rect">
            <a:avLst/>
          </a:prstGeom>
        </p:spPr>
      </p:pic>
      <p:pic>
        <p:nvPicPr>
          <p:cNvPr id="4" name="Imagem 3" descr="Uma imagem com texto, diagrama, file, design  Os conteúdos gerados por IA poderão estar incorretos.">
            <a:extLst>
              <a:ext uri="{FF2B5EF4-FFF2-40B4-BE49-F238E27FC236}">
                <a16:creationId xmlns:a16="http://schemas.microsoft.com/office/drawing/2014/main" id="{5ED19304-C44A-4E1B-F788-E49E01E2C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377" y="3592081"/>
            <a:ext cx="4614984" cy="228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9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D4BEB-B4AD-1F90-FE96-2AEBA20B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7342F470-F768-966A-94E9-E548286A3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F710534-40D2-7088-C5C5-7447823B4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84D8204-E3A4-AFD5-4985-D1E26DDA3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6BA45E66-6267-47CF-0021-AD8717074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91958104-01B6-B580-1C28-C2E4CAEA3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6DF4FB0-9C8B-ACF9-8560-49AB4012B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A27612-D745-F4BC-A6E8-7D1CC3E7A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00000"/>
            <a:ext cx="10000000" cy="1200000"/>
          </a:xfrm>
        </p:spPr>
        <p:txBody>
          <a:bodyPr>
            <a:normAutofit/>
          </a:bodyPr>
          <a:lstStyle/>
          <a:p>
            <a:r>
              <a:rPr lang="pt-PT" sz="3600">
                <a:latin typeface="Sabon Next LT"/>
                <a:ea typeface="Calibri"/>
                <a:cs typeface="Sabon Next LT"/>
              </a:rPr>
              <a:t>Entropia e Ganho de Informação</a:t>
            </a:r>
            <a:endParaRPr lang="pt-PT"/>
          </a:p>
        </p:txBody>
      </p:sp>
      <p:sp>
        <p:nvSpPr>
          <p:cNvPr id="200" name="Header 200"/>
          <p:cNvSpPr txBox="1"/>
          <p:nvPr/>
        </p:nvSpPr>
        <p:spPr>
          <a:xfrm>
            <a:off x="1143000" y="2150000"/>
            <a:ext cx="4900000" cy="5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buNone/>
            </a:pPr>
            <a:r>
              <a:rPr lang="pt-PT" sz="2000" b="1" dirty="0">
                <a:latin typeface="+mn-lt"/>
                <a:ea typeface="+mn-lt"/>
                <a:cs typeface="+mn-lt"/>
              </a:rPr>
              <a:t>Entropia</a:t>
            </a:r>
          </a:p>
        </p:txBody>
      </p:sp>
      <p:pic>
        <p:nvPicPr>
          <p:cNvPr id="201" name="Entropy Formul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69" y="2700000"/>
            <a:ext cx="4436472" cy="770000"/>
          </a:xfrm>
          <a:prstGeom prst="rect">
            <a:avLst/>
          </a:prstGeom>
        </p:spPr>
      </p:pic>
      <p:sp>
        <p:nvSpPr>
          <p:cNvPr id="202" name="Body 202"/>
          <p:cNvSpPr txBox="1"/>
          <p:nvPr/>
        </p:nvSpPr>
        <p:spPr>
          <a:xfrm>
            <a:off x="1143000" y="3650000"/>
            <a:ext cx="4900000" cy="23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pt-PT" sz="1600" dirty="0">
                <a:latin typeface="+mn-lt"/>
                <a:ea typeface="+mn-lt"/>
                <a:cs typeface="+mn-lt"/>
              </a:rPr>
              <a:t>Mede a impureza das classes num conjunto de exemplos.</a:t>
            </a:r>
          </a:p>
          <a:p>
            <a:pPr marL="0" indent="0"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pt-PT" sz="1600" b="1" dirty="0">
                <a:latin typeface="+mn-lt"/>
                <a:ea typeface="+mn-lt"/>
                <a:cs typeface="+mn-lt"/>
              </a:rPr>
              <a:t>S</a:t>
            </a:r>
            <a:r>
              <a:rPr lang="pt-PT" sz="1600" dirty="0">
                <a:latin typeface="+mn-lt"/>
                <a:ea typeface="+mn-lt"/>
                <a:cs typeface="+mn-lt"/>
              </a:rPr>
              <a:t>  —  conjunto de exemplos</a:t>
            </a:r>
          </a:p>
          <a:p>
            <a:pPr marL="0" indent="0"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pt-PT" sz="1600" b="1" dirty="0">
                <a:latin typeface="+mn-lt"/>
                <a:ea typeface="+mn-lt"/>
                <a:cs typeface="+mn-lt"/>
              </a:rPr>
              <a:t>pᵢ</a:t>
            </a:r>
            <a:r>
              <a:rPr lang="pt-PT" sz="1600" dirty="0">
                <a:latin typeface="+mn-lt"/>
                <a:ea typeface="+mn-lt"/>
                <a:cs typeface="+mn-lt"/>
              </a:rPr>
              <a:t>  —  proporção da classe i em S</a:t>
            </a:r>
          </a:p>
          <a:p>
            <a:pPr marL="0" indent="0"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pt-PT" sz="1600" b="1" dirty="0">
                <a:latin typeface="+mn-lt"/>
                <a:ea typeface="+mn-lt"/>
                <a:cs typeface="+mn-lt"/>
              </a:rPr>
              <a:t>log₂</a:t>
            </a:r>
            <a:r>
              <a:rPr lang="pt-PT" sz="1600" dirty="0">
                <a:latin typeface="+mn-lt"/>
                <a:ea typeface="+mn-lt"/>
                <a:cs typeface="+mn-lt"/>
              </a:rPr>
              <a:t>  —  função de escala matemática</a:t>
            </a:r>
          </a:p>
        </p:txBody>
      </p:sp>
      <p:sp>
        <p:nvSpPr>
          <p:cNvPr id="210" name="Header 210"/>
          <p:cNvSpPr txBox="1"/>
          <p:nvPr/>
        </p:nvSpPr>
        <p:spPr>
          <a:xfrm>
            <a:off x="6200000" y="2150000"/>
            <a:ext cx="4900000" cy="5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buNone/>
            </a:pPr>
            <a:r>
              <a:rPr lang="pt-PT" sz="2000" b="1" dirty="0">
                <a:latin typeface="+mn-lt"/>
                <a:ea typeface="+mn-lt"/>
                <a:cs typeface="+mn-lt"/>
              </a:rPr>
              <a:t>Ganho de Informação</a:t>
            </a:r>
          </a:p>
        </p:txBody>
      </p:sp>
      <p:pic>
        <p:nvPicPr>
          <p:cNvPr id="211" name="Information Gain Formul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0" y="2599500"/>
            <a:ext cx="4600000" cy="917000"/>
          </a:xfrm>
          <a:prstGeom prst="rect">
            <a:avLst/>
          </a:prstGeom>
        </p:spPr>
      </p:pic>
      <p:sp>
        <p:nvSpPr>
          <p:cNvPr id="212" name="Body 212"/>
          <p:cNvSpPr txBox="1"/>
          <p:nvPr/>
        </p:nvSpPr>
        <p:spPr>
          <a:xfrm>
            <a:off x="6200000" y="3650000"/>
            <a:ext cx="4900000" cy="220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pt-PT" sz="1600" dirty="0">
                <a:latin typeface="+mn-lt"/>
                <a:ea typeface="+mn-lt"/>
                <a:cs typeface="+mn-lt"/>
              </a:rPr>
              <a:t>Mede a redução da entropia ao dividir os dados por um atributo.</a:t>
            </a:r>
          </a:p>
          <a:p>
            <a:pPr marL="0" indent="0"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pt-PT" sz="1600" b="1" dirty="0">
                <a:latin typeface="+mn-lt"/>
                <a:ea typeface="+mn-lt"/>
                <a:cs typeface="+mn-lt"/>
              </a:rPr>
              <a:t>A</a:t>
            </a:r>
            <a:r>
              <a:rPr lang="pt-PT" sz="1600" dirty="0">
                <a:latin typeface="+mn-lt"/>
                <a:ea typeface="+mn-lt"/>
                <a:cs typeface="+mn-lt"/>
              </a:rPr>
              <a:t>  —  atributo de divisão</a:t>
            </a:r>
          </a:p>
          <a:p>
            <a:pPr marL="0" indent="0"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pt-PT" sz="1600" b="1" dirty="0">
                <a:latin typeface="+mn-lt"/>
                <a:ea typeface="+mn-lt"/>
                <a:cs typeface="+mn-lt"/>
              </a:rPr>
              <a:t>Sᵥ</a:t>
            </a:r>
            <a:r>
              <a:rPr lang="pt-PT" sz="1600" dirty="0">
                <a:latin typeface="+mn-lt"/>
                <a:ea typeface="+mn-lt"/>
                <a:cs typeface="+mn-lt"/>
              </a:rPr>
              <a:t>  —  subconjunto onde A = v</a:t>
            </a:r>
          </a:p>
          <a:p>
            <a:pPr marL="0" indent="0"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pt-PT" sz="1600" b="1" dirty="0">
                <a:latin typeface="+mn-lt"/>
                <a:ea typeface="+mn-lt"/>
                <a:cs typeface="+mn-lt"/>
              </a:rPr>
              <a:t>|Sᵥ|/|S|</a:t>
            </a:r>
            <a:r>
              <a:rPr lang="pt-PT" sz="1600" dirty="0">
                <a:latin typeface="+mn-lt"/>
                <a:ea typeface="+mn-lt"/>
                <a:cs typeface="+mn-lt"/>
              </a:rPr>
              <a:t>  —  peso do subconjunto na média</a:t>
            </a:r>
          </a:p>
        </p:txBody>
      </p:sp>
    </p:spTree>
    <p:extLst>
      <p:ext uri="{BB962C8B-B14F-4D97-AF65-F5344CB8AC3E}">
        <p14:creationId xmlns:p14="http://schemas.microsoft.com/office/powerpoint/2010/main" val="4129324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4BA745-C676-1C19-F42C-E1DB3AE0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101">
            <a:extLst>
              <a:ext uri="{FF2B5EF4-FFF2-40B4-BE49-F238E27FC236}">
                <a16:creationId xmlns:a16="http://schemas.microsoft.com/office/drawing/2014/main" id="{7F7E0EB7-F191-497C-7C63-0EDCDC357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" name="Rectangle 103">
            <a:extLst>
              <a:ext uri="{FF2B5EF4-FFF2-40B4-BE49-F238E27FC236}">
                <a16:creationId xmlns:a16="http://schemas.microsoft.com/office/drawing/2014/main" id="{8A2CD175-0FDD-794C-1AD8-4222242A7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" name="Rectangle 109">
            <a:extLst>
              <a:ext uri="{FF2B5EF4-FFF2-40B4-BE49-F238E27FC236}">
                <a16:creationId xmlns:a16="http://schemas.microsoft.com/office/drawing/2014/main" id="{B0EF779C-647E-749E-B009-262EE5952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4AA8B4E-E811-6B9E-597A-F361C15575A7}"/>
              </a:ext>
            </a:extLst>
          </p:cNvPr>
          <p:cNvSpPr>
            <a:spLocks noGrp="1"/>
          </p:cNvSpPr>
          <p:nvPr/>
        </p:nvSpPr>
        <p:spPr>
          <a:xfrm>
            <a:off x="1143000" y="799879"/>
            <a:ext cx="9125071" cy="1997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600" dirty="0">
                <a:ea typeface="+mj-lt"/>
                <a:cs typeface="+mj-lt"/>
              </a:rPr>
              <a:t>Árvore de Decisão ID3 — Como Construímos e Treinámos</a:t>
            </a:r>
            <a:endParaRPr lang="pt-PT" dirty="0"/>
          </a:p>
        </p:txBody>
      </p:sp>
      <p:sp>
        <p:nvSpPr>
          <p:cNvPr id="15" name="Marcador de Posição de Conteúdo 4">
            <a:extLst>
              <a:ext uri="{FF2B5EF4-FFF2-40B4-BE49-F238E27FC236}">
                <a16:creationId xmlns:a16="http://schemas.microsoft.com/office/drawing/2014/main" id="{005676F3-0B3F-631C-7C30-4666146738FD}"/>
              </a:ext>
            </a:extLst>
          </p:cNvPr>
          <p:cNvSpPr>
            <a:spLocks noGrp="1"/>
          </p:cNvSpPr>
          <p:nvPr/>
        </p:nvSpPr>
        <p:spPr>
          <a:xfrm>
            <a:off x="1147572" y="2701361"/>
            <a:ext cx="9798679" cy="30747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r>
              <a:rPr lang="pt-PT" sz="1600" dirty="0"/>
              <a:t>O algoritmo ID3 não foi treinado para jogar </a:t>
            </a:r>
            <a:r>
              <a:rPr lang="pt-PT" sz="1600" i="1" dirty="0" err="1"/>
              <a:t>PopOut</a:t>
            </a:r>
            <a:r>
              <a:rPr lang="pt-PT" sz="1600" dirty="0"/>
              <a:t> de forma autónoma, mas sim para imitar o comportamento do </a:t>
            </a:r>
            <a:r>
              <a:rPr lang="pt-PT" sz="1600" i="1" dirty="0"/>
              <a:t>Monte Carlo </a:t>
            </a:r>
            <a:r>
              <a:rPr lang="pt-PT" sz="1600" i="1" dirty="0" err="1"/>
              <a:t>Tree</a:t>
            </a:r>
            <a:r>
              <a:rPr lang="pt-PT" sz="1600" i="1" dirty="0"/>
              <a:t> </a:t>
            </a:r>
            <a:r>
              <a:rPr lang="pt-PT" sz="1600" i="1" dirty="0" err="1"/>
              <a:t>Search</a:t>
            </a:r>
            <a:r>
              <a:rPr lang="pt-PT" sz="1600" dirty="0"/>
              <a:t> (MCTS). O processo de geração de dados consistiu na execução do MCTS em modo </a:t>
            </a:r>
            <a:r>
              <a:rPr lang="pt-PT" sz="1600" i="1" dirty="0"/>
              <a:t>self-play</a:t>
            </a:r>
            <a:r>
              <a:rPr lang="pt-PT" sz="1600" dirty="0"/>
              <a:t>, durante o qual o algoritmo disputou um milhar de partidas contra si próprio, registando, para cada posição de jogo, a jogada selecionada.</a:t>
            </a:r>
          </a:p>
          <a:p>
            <a:pPr algn="just">
              <a:lnSpc>
                <a:spcPct val="160000"/>
              </a:lnSpc>
            </a:pPr>
            <a:r>
              <a:rPr lang="pt-PT" sz="1600" dirty="0"/>
              <a:t>Para garantir uma avaliação fidedigna do modelo, os dados foram particionados segundo uma proporção de 80/20. </a:t>
            </a:r>
          </a:p>
          <a:p>
            <a:pPr algn="just">
              <a:lnSpc>
                <a:spcPct val="160000"/>
              </a:lnSpc>
            </a:pPr>
            <a:r>
              <a:rPr lang="pt-PT" sz="1600" dirty="0"/>
              <a:t>A árvore de decisão resultante do treino corresponde, na sua essência, a uma fórmula matemática fechada sobre os atributos do estado do jogo. Esta propriedade torna o modelo altamente eficiente em tempo de inferência.</a:t>
            </a:r>
          </a:p>
          <a:p>
            <a:pPr marL="0" indent="0">
              <a:lnSpc>
                <a:spcPct val="100000"/>
              </a:lnSpc>
              <a:buNone/>
            </a:pPr>
            <a:endParaRPr lang="pt-PT" sz="1500" dirty="0"/>
          </a:p>
        </p:txBody>
      </p:sp>
    </p:spTree>
    <p:extLst>
      <p:ext uri="{BB962C8B-B14F-4D97-AF65-F5344CB8AC3E}">
        <p14:creationId xmlns:p14="http://schemas.microsoft.com/office/powerpoint/2010/main" val="309003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0B2D5-F47F-D00B-4CAA-6D3D241F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B308828-4749-4D6D-9CEA-433D2BD2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FA43358F-8AF6-45AF-B1D4-3EA84DDE7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3B887FE-73E4-4849-9FF5-BEBA04068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0DADC141-2CF4-4D22-BFEF-05FB358E4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146097-D34A-09A4-D38A-684B01F7A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349" y="916120"/>
            <a:ext cx="5785303" cy="502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95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B6448-A133-9B2E-0A44-8DB4B47AB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C1E0B46-9A52-4AE9-52C4-2079A3E52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906FDC-7BCB-8827-802F-689A1E471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EEC496F-0FA8-33FF-721C-7ACB7328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A57A48D-C4E9-D56F-29B6-AEDD87C75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04132A3-C65C-D203-F792-85FE6BA816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40519262-F348-B560-443F-FAECB62BE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248BD3A0-ABCF-BBE0-4069-0F6D37C0B80C}"/>
              </a:ext>
            </a:extLst>
          </p:cNvPr>
          <p:cNvSpPr>
            <a:spLocks noGrp="1"/>
          </p:cNvSpPr>
          <p:nvPr/>
        </p:nvSpPr>
        <p:spPr>
          <a:xfrm>
            <a:off x="1175163" y="685800"/>
            <a:ext cx="10073335" cy="1997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ID3 no </a:t>
            </a:r>
            <a:r>
              <a:rPr lang="en-US" sz="3600" dirty="0" err="1"/>
              <a:t>PopOut</a:t>
            </a:r>
            <a:r>
              <a:rPr lang="en-US" sz="3600" dirty="0"/>
              <a:t> — profundidade adicional ajuda?</a:t>
            </a:r>
            <a:endParaRPr lang="en-US" sz="3600" dirty="0">
              <a:cs typeface="Sabon Next LT"/>
            </a:endParaRPr>
          </a:p>
          <a:p>
            <a:pPr>
              <a:spcAft>
                <a:spcPts val="600"/>
              </a:spcAft>
            </a:pPr>
            <a:endParaRPr lang="en-US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7F06A2-A5E1-1059-CEA0-325F9E656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014" y="2187075"/>
            <a:ext cx="6280828" cy="354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3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4EEDD-3EF4-FAED-6E04-3C66B26E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928097A-86A1-929C-C704-BB7A921C4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62AC78-C3CE-BDFE-7C10-87EB4E85B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5E26F2-800B-2B30-6067-94D22B15E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C90E5D5-E25F-D46A-D20E-D2F3A4BCF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571BD06-8AA7-54AB-89C6-8C3ED4407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355DD19-DDD3-EC34-AFF1-83FC5DB0F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D510373-2653-73C0-1A82-B857C902EB42}"/>
              </a:ext>
            </a:extLst>
          </p:cNvPr>
          <p:cNvSpPr>
            <a:spLocks noGrp="1"/>
          </p:cNvSpPr>
          <p:nvPr/>
        </p:nvSpPr>
        <p:spPr>
          <a:xfrm>
            <a:off x="1143000" y="944379"/>
            <a:ext cx="8970540" cy="1997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ID3 no </a:t>
            </a:r>
            <a:r>
              <a:rPr lang="en-US" sz="3600" dirty="0" err="1"/>
              <a:t>PopOut</a:t>
            </a:r>
            <a:r>
              <a:rPr lang="en-US" sz="3600" dirty="0"/>
              <a:t> — mais dados ajudam?</a:t>
            </a:r>
          </a:p>
          <a:p>
            <a:endParaRPr lang="en-US" sz="3600" dirty="0"/>
          </a:p>
          <a:p>
            <a:pPr>
              <a:spcAft>
                <a:spcPts val="600"/>
              </a:spcAft>
            </a:pPr>
            <a:endParaRPr lang="en-US" sz="3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27D2042-3BB4-07C0-807B-6E1C71781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688" y="1942916"/>
            <a:ext cx="6917164" cy="390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66566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514</Words>
  <Application>Microsoft Macintosh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ADLaM Display</vt:lpstr>
      <vt:lpstr>Arial</vt:lpstr>
      <vt:lpstr>Avenir Next LT Pro</vt:lpstr>
      <vt:lpstr>AvenirNext LT Pro Medium</vt:lpstr>
      <vt:lpstr>Sabon Next LT</vt:lpstr>
      <vt:lpstr>DappledVTI</vt:lpstr>
      <vt:lpstr>Jogo PopOut </vt:lpstr>
      <vt:lpstr>O Jogo PopOut</vt:lpstr>
      <vt:lpstr>Monte Carlo Tree Search</vt:lpstr>
      <vt:lpstr>UCB1</vt:lpstr>
      <vt:lpstr>Rollouts</vt:lpstr>
      <vt:lpstr>Árvore de Decisão ID3</vt:lpstr>
      <vt:lpstr>Entropia e Ganho de Informação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Gonçalo Sousa</cp:lastModifiedBy>
  <cp:revision>871</cp:revision>
  <dcterms:created xsi:type="dcterms:W3CDTF">2026-05-12T09:34:16Z</dcterms:created>
  <dcterms:modified xsi:type="dcterms:W3CDTF">2026-05-17T14:03:58Z</dcterms:modified>
</cp:coreProperties>
</file>